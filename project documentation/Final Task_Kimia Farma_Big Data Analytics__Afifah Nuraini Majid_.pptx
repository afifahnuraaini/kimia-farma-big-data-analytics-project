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7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Rubik" panose="020B0604020202020204" charset="-79"/>
      <p:regular r:id="rId20"/>
      <p:bold r:id="rId21"/>
      <p:italic r:id="rId22"/>
      <p:boldItalic r:id="rId23"/>
    </p:embeddedFont>
    <p:embeddedFont>
      <p:font typeface="Rubik Light" panose="020B0604020202020204" charset="-79"/>
      <p:regular r:id="rId24"/>
      <p:bold r:id="rId25"/>
      <p:italic r:id="rId26"/>
      <p:boldItalic r:id="rId27"/>
    </p:embeddedFont>
    <p:embeddedFont>
      <p:font typeface="Rubik Medium" panose="020B0604020202020204" charset="-79"/>
      <p:regular r:id="rId28"/>
      <p:bold r:id="rId29"/>
      <p:italic r:id="rId30"/>
      <p:boldItalic r:id="rId31"/>
    </p:embeddedFont>
    <p:embeddedFont>
      <p:font typeface="Rubik SemiBold" panose="020B0604020202020204" charset="-79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1nl8uAJepcjcA2CnLI/GAkZtj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7"/>
    <a:srgbClr val="F28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544" autoAdjust="0"/>
  </p:normalViewPr>
  <p:slideViewPr>
    <p:cSldViewPr snapToGrid="0">
      <p:cViewPr varScale="1">
        <p:scale>
          <a:sx n="89" d="100"/>
          <a:sy n="89" d="100"/>
        </p:scale>
        <p:origin x="1310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viewProps" Target="viewProp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5ee86830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65ee86830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3ec2985a6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94C7B35-3F7C-1007-7CF5-0AFF1A3A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>
            <a:extLst>
              <a:ext uri="{FF2B5EF4-FFF2-40B4-BE49-F238E27FC236}">
                <a16:creationId xmlns:a16="http://schemas.microsoft.com/office/drawing/2014/main" id="{F7A47151-290A-9CE5-BFDF-ADDAA9383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>
            <a:extLst>
              <a:ext uri="{FF2B5EF4-FFF2-40B4-BE49-F238E27FC236}">
                <a16:creationId xmlns:a16="http://schemas.microsoft.com/office/drawing/2014/main" id="{60EFA491-44A1-43B7-8D0A-A31D76648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35560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rive.google.com/file/d/1vqFBnUNekHGGADXcixoWZZpA9PJcyMqz/view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afifahnuraaini/Kimia-Farma-Big-Data-Analytics-Projec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studio.google.com/reporting/038072fe-077d-4b73-a682-1eb7a70a5c56" TargetMode="External"/><Relationship Id="rId5" Type="http://schemas.openxmlformats.org/officeDocument/2006/relationships/image" Target="../media/image21.jp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17900" y="1596200"/>
            <a:ext cx="6882644" cy="156963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D" sz="44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Performance Analytics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D" sz="4400" b="1" i="0" u="none" strike="noStrike" cap="none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Dashb</a:t>
            </a:r>
            <a:r>
              <a:rPr lang="en-ID" sz="44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oard</a:t>
            </a:r>
            <a:endParaRPr lang="en-ID" sz="4400" b="0" i="0" u="none" strike="noStrike" cap="none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Kimia Farma </a:t>
            </a:r>
            <a:r>
              <a:rPr lang="en" sz="25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- </a:t>
            </a: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Big Data Analytics</a:t>
            </a:r>
            <a:endParaRPr sz="25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Afifah Nuraini Majid</a:t>
            </a:r>
            <a:endParaRPr sz="3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0825" y="133900"/>
            <a:ext cx="1581660" cy="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33575" y="470775"/>
            <a:ext cx="2431800" cy="3298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Insert your photo here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dirty="0">
                <a:latin typeface="Poppins" panose="00000500000000000000" pitchFamily="2" charset="0"/>
                <a:ea typeface="Rubik SemiBold"/>
                <a:cs typeface="Poppins" panose="00000500000000000000" pitchFamily="2" charset="0"/>
                <a:sym typeface="Rubik SemiBold"/>
              </a:rPr>
              <a:t>Afifah Nuraini Majid</a:t>
            </a:r>
            <a:endParaRPr sz="200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Rubik SemiBold"/>
              <a:cs typeface="Poppins" panose="00000500000000000000" pitchFamily="2" charset="0"/>
              <a:sym typeface="Rubik SemiBold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5020932" y="1673611"/>
            <a:ext cx="3886848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Lulusan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Matematika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fokus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pada Data Analytics dan Machine Learning.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Berpengalaman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mengolah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menganalisis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Python, SQL, SPSS, dan Google Looker Studio,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serta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membangun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visualisasi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menyajikan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insight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data.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kemampuan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analytical thinking, problem solving, dan data-driven decision making.</a:t>
            </a:r>
          </a:p>
        </p:txBody>
      </p:sp>
      <p:sp>
        <p:nvSpPr>
          <p:cNvPr id="80" name="Google Shape;80;p3"/>
          <p:cNvSpPr txBox="1"/>
          <p:nvPr/>
        </p:nvSpPr>
        <p:spPr>
          <a:xfrm>
            <a:off x="1004800" y="392832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dirty="0" err="1">
                <a:latin typeface="Rubik Medium"/>
                <a:ea typeface="Rubik Medium"/>
                <a:cs typeface="Rubik Medium"/>
                <a:sym typeface="Rubik Medium"/>
              </a:rPr>
              <a:t>Sukoharjo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1004800" y="4750550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2000"/>
            </a:pPr>
            <a:r>
              <a:rPr lang="en-ID" sz="1200" dirty="0">
                <a:latin typeface="Rubik Medium"/>
                <a:ea typeface="Rubik Medium"/>
                <a:cs typeface="Rubik Medium"/>
                <a:sym typeface="Rubik Medium"/>
              </a:rPr>
              <a:t>linkedin.com/in/afifah-nuraini-178055248/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1004800" y="4358988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afifahnurainimajid@gmail.com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6BE76-5CA2-A0BA-07F5-E72589F99D4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0012"/>
          <a:stretch>
            <a:fillRect/>
          </a:stretch>
        </p:blipFill>
        <p:spPr>
          <a:xfrm rot="16200000">
            <a:off x="606107" y="898241"/>
            <a:ext cx="3298801" cy="2443865"/>
          </a:xfrm>
          <a:prstGeom prst="round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65ee868302_0_130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65ee868302_0_130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65ee868302_0_130"/>
          <p:cNvSpPr txBox="1"/>
          <p:nvPr/>
        </p:nvSpPr>
        <p:spPr>
          <a:xfrm>
            <a:off x="158496" y="1406350"/>
            <a:ext cx="8876379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b="1" dirty="0" err="1">
                <a:latin typeface="Rubik"/>
                <a:ea typeface="Rubik"/>
                <a:cs typeface="Rubik"/>
                <a:sym typeface="Rubik"/>
              </a:rPr>
              <a:t>Revou</a:t>
            </a:r>
            <a:r>
              <a:rPr lang="en-ID" b="1" dirty="0">
                <a:latin typeface="Rubik"/>
                <a:ea typeface="Rubik"/>
                <a:cs typeface="Rubik"/>
                <a:sym typeface="Rubik"/>
              </a:rPr>
              <a:t> Intro to Data Analytics Mini Course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	                 Agustus 2026	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tx1"/>
                </a:solidFill>
                <a:latin typeface="Rubik"/>
                <a:ea typeface="Rubik"/>
                <a:cs typeface="Rubik"/>
                <a:sym typeface="Rubik"/>
              </a:rPr>
              <a:t>IODA Academy </a:t>
            </a:r>
            <a:r>
              <a:rPr lang="en-US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Fundamentals of Data Analysis using Google Looker Studio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             Agustus 2025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Bangkit</a:t>
            </a:r>
            <a:r>
              <a:rPr lang="en-US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Academy 2024 (MSIB) – Machine Learning </a:t>
            </a:r>
            <a:r>
              <a:rPr lang="en-US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Learning</a:t>
            </a:r>
            <a:r>
              <a:rPr lang="en-US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Path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                  Januari 2025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Dicoding</a:t>
            </a:r>
            <a:r>
              <a:rPr lang="en-ID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Indonesia </a:t>
            </a:r>
            <a:r>
              <a:rPr lang="en-ID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Belajar</a:t>
            </a:r>
            <a:r>
              <a:rPr lang="en-ID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Analisis</a:t>
            </a:r>
            <a:r>
              <a:rPr lang="en-ID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Data </a:t>
            </a:r>
            <a:r>
              <a:rPr lang="en-ID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ID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Python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                  Oktober 2024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en-ID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Dicoding</a:t>
            </a:r>
            <a:r>
              <a:rPr lang="en-ID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Indonesia Basic Data Science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		                  September 2024</a:t>
            </a:r>
          </a:p>
        </p:txBody>
      </p:sp>
      <p:sp>
        <p:nvSpPr>
          <p:cNvPr id="93" name="Google Shape;93;g265ee868302_0_130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lang="en" sz="3000" b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sz="3000" b="1" i="0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val 70">
            <a:extLst>
              <a:ext uri="{FF2B5EF4-FFF2-40B4-BE49-F238E27FC236}">
                <a16:creationId xmlns:a16="http://schemas.microsoft.com/office/drawing/2014/main" id="{987E1E90-B8B6-4A82-EBB1-C701B2F71155}"/>
              </a:ext>
            </a:extLst>
          </p:cNvPr>
          <p:cNvSpPr/>
          <p:nvPr/>
        </p:nvSpPr>
        <p:spPr>
          <a:xfrm>
            <a:off x="5035795" y="1132446"/>
            <a:ext cx="628715" cy="60961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9" name="Google Shape;99;p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-1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331689F8-2F69-DC7E-6F83-4F4C8AA100A9}"/>
              </a:ext>
            </a:extLst>
          </p:cNvPr>
          <p:cNvSpPr/>
          <p:nvPr/>
        </p:nvSpPr>
        <p:spPr>
          <a:xfrm>
            <a:off x="486434" y="1163024"/>
            <a:ext cx="628715" cy="6096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0254" y="-26560"/>
            <a:ext cx="1933184" cy="7444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FA43DD-71BF-7A85-598B-1663D1E3813F}"/>
              </a:ext>
            </a:extLst>
          </p:cNvPr>
          <p:cNvSpPr/>
          <p:nvPr/>
        </p:nvSpPr>
        <p:spPr>
          <a:xfrm>
            <a:off x="94140" y="2026484"/>
            <a:ext cx="1413307" cy="14237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Pioneer</a:t>
            </a:r>
            <a:endParaRPr lang="en-ID" sz="1050" b="1" dirty="0">
              <a:solidFill>
                <a:schemeClr val="tx1"/>
              </a:solidFill>
            </a:endParaRPr>
          </a:p>
          <a:p>
            <a:r>
              <a:rPr lang="en-ID" sz="1050" dirty="0" err="1">
                <a:solidFill>
                  <a:schemeClr val="tx1"/>
                </a:solidFill>
              </a:rPr>
              <a:t>Didirikan</a:t>
            </a:r>
            <a:r>
              <a:rPr lang="en-ID" sz="1050" dirty="0">
                <a:solidFill>
                  <a:schemeClr val="tx1"/>
                </a:solidFill>
              </a:rPr>
              <a:t> </a:t>
            </a:r>
            <a:r>
              <a:rPr lang="en-ID" sz="1050" dirty="0" err="1">
                <a:solidFill>
                  <a:schemeClr val="tx1"/>
                </a:solidFill>
              </a:rPr>
              <a:t>sebagai</a:t>
            </a:r>
            <a:r>
              <a:rPr lang="en-ID" sz="1050" dirty="0">
                <a:solidFill>
                  <a:schemeClr val="tx1"/>
                </a:solidFill>
              </a:rPr>
              <a:t> </a:t>
            </a:r>
            <a:r>
              <a:rPr lang="en-ID" sz="1050" dirty="0" err="1">
                <a:solidFill>
                  <a:schemeClr val="tx1"/>
                </a:solidFill>
              </a:rPr>
              <a:t>perusahaan</a:t>
            </a:r>
            <a:r>
              <a:rPr lang="en-ID" sz="1050" dirty="0">
                <a:solidFill>
                  <a:schemeClr val="tx1"/>
                </a:solidFill>
              </a:rPr>
              <a:t> industry </a:t>
            </a:r>
            <a:r>
              <a:rPr lang="en-ID" sz="1050" dirty="0" err="1">
                <a:solidFill>
                  <a:schemeClr val="tx1"/>
                </a:solidFill>
              </a:rPr>
              <a:t>farmasi</a:t>
            </a:r>
            <a:r>
              <a:rPr lang="en-ID" sz="1050" dirty="0">
                <a:solidFill>
                  <a:schemeClr val="tx1"/>
                </a:solidFill>
              </a:rPr>
              <a:t> </a:t>
            </a:r>
            <a:r>
              <a:rPr lang="en-ID" sz="1050" dirty="0" err="1">
                <a:solidFill>
                  <a:schemeClr val="tx1"/>
                </a:solidFill>
              </a:rPr>
              <a:t>pertama</a:t>
            </a:r>
            <a:r>
              <a:rPr lang="en-ID" sz="1050" dirty="0">
                <a:solidFill>
                  <a:schemeClr val="tx1"/>
                </a:solidFill>
              </a:rPr>
              <a:t> di Indonesia 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2C6D8C89-FF26-96CB-9AD7-25FCC18DF537}"/>
              </a:ext>
            </a:extLst>
          </p:cNvPr>
          <p:cNvSpPr/>
          <p:nvPr/>
        </p:nvSpPr>
        <p:spPr>
          <a:xfrm>
            <a:off x="327196" y="1874084"/>
            <a:ext cx="955381" cy="283990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1817</a:t>
            </a:r>
            <a:endParaRPr lang="en-ID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8A9BA5-60D7-F513-95DC-AE0DC41A947A}"/>
              </a:ext>
            </a:extLst>
          </p:cNvPr>
          <p:cNvSpPr/>
          <p:nvPr/>
        </p:nvSpPr>
        <p:spPr>
          <a:xfrm>
            <a:off x="1609773" y="2026484"/>
            <a:ext cx="1413307" cy="138751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Nationalized</a:t>
            </a:r>
            <a:endParaRPr lang="en-ID" sz="1050" b="1" dirty="0">
              <a:solidFill>
                <a:schemeClr val="tx1"/>
              </a:solidFill>
            </a:endParaRPr>
          </a:p>
          <a:p>
            <a:r>
              <a:rPr lang="en-ID" sz="1050" dirty="0" err="1">
                <a:solidFill>
                  <a:schemeClr val="tx1"/>
                </a:solidFill>
              </a:rPr>
              <a:t>Menjadi</a:t>
            </a:r>
            <a:r>
              <a:rPr lang="en-ID" sz="1050" dirty="0">
                <a:solidFill>
                  <a:schemeClr val="tx1"/>
                </a:solidFill>
              </a:rPr>
              <a:t> PNF Bhinneka Kimia Farma (Perusahaan Negara Farmasi)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91E6B238-5ED9-FA1B-37D8-8EB661825D88}"/>
              </a:ext>
            </a:extLst>
          </p:cNvPr>
          <p:cNvSpPr/>
          <p:nvPr/>
        </p:nvSpPr>
        <p:spPr>
          <a:xfrm>
            <a:off x="1842829" y="1874084"/>
            <a:ext cx="955381" cy="283990"/>
          </a:xfrm>
          <a:prstGeom prst="flowChartTerminator">
            <a:avLst/>
          </a:prstGeom>
          <a:solidFill>
            <a:srgbClr val="F280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1958</a:t>
            </a:r>
            <a:endParaRPr lang="en-ID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5F2E386-0884-8ACE-5E07-940DD83D2290}"/>
              </a:ext>
            </a:extLst>
          </p:cNvPr>
          <p:cNvSpPr/>
          <p:nvPr/>
        </p:nvSpPr>
        <p:spPr>
          <a:xfrm>
            <a:off x="3125406" y="2026484"/>
            <a:ext cx="1413307" cy="13875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Corporatized</a:t>
            </a:r>
            <a:endParaRPr lang="en-ID" sz="1050" b="1" dirty="0">
              <a:solidFill>
                <a:schemeClr val="tx1"/>
              </a:solidFill>
            </a:endParaRPr>
          </a:p>
          <a:p>
            <a:r>
              <a:rPr lang="en-ID" sz="1050" dirty="0" err="1">
                <a:solidFill>
                  <a:schemeClr val="tx1"/>
                </a:solidFill>
              </a:rPr>
              <a:t>Berubah</a:t>
            </a:r>
            <a:r>
              <a:rPr lang="en-ID" sz="1050" dirty="0">
                <a:solidFill>
                  <a:schemeClr val="tx1"/>
                </a:solidFill>
              </a:rPr>
              <a:t> </a:t>
            </a:r>
            <a:r>
              <a:rPr lang="en-ID" sz="1050" dirty="0" err="1">
                <a:solidFill>
                  <a:schemeClr val="tx1"/>
                </a:solidFill>
              </a:rPr>
              <a:t>menjadi</a:t>
            </a:r>
            <a:r>
              <a:rPr lang="en-ID" sz="1050" dirty="0">
                <a:solidFill>
                  <a:schemeClr val="tx1"/>
                </a:solidFill>
              </a:rPr>
              <a:t> PT Kimia Farma (Persero)</a:t>
            </a:r>
          </a:p>
          <a:p>
            <a:endParaRPr lang="en-ID" sz="1050" dirty="0">
              <a:solidFill>
                <a:schemeClr val="tx1"/>
              </a:solidFill>
            </a:endParaRPr>
          </a:p>
          <a:p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id="{B4577081-C414-7D26-4E50-A4B5675327BA}"/>
              </a:ext>
            </a:extLst>
          </p:cNvPr>
          <p:cNvSpPr/>
          <p:nvPr/>
        </p:nvSpPr>
        <p:spPr>
          <a:xfrm>
            <a:off x="3358462" y="1874084"/>
            <a:ext cx="955381" cy="283990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1971</a:t>
            </a:r>
            <a:endParaRPr lang="en-ID" b="1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E75063F-0096-EA0A-46DA-2E2205C689CF}"/>
              </a:ext>
            </a:extLst>
          </p:cNvPr>
          <p:cNvSpPr/>
          <p:nvPr/>
        </p:nvSpPr>
        <p:spPr>
          <a:xfrm>
            <a:off x="4649225" y="2026484"/>
            <a:ext cx="1413307" cy="13742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Go Public</a:t>
            </a:r>
          </a:p>
          <a:p>
            <a:r>
              <a:rPr lang="en-US" sz="1050" dirty="0" err="1">
                <a:solidFill>
                  <a:schemeClr val="tx1"/>
                </a:solidFill>
              </a:rPr>
              <a:t>Tercatat</a:t>
            </a:r>
            <a:r>
              <a:rPr lang="en-US" sz="1050" dirty="0">
                <a:solidFill>
                  <a:schemeClr val="tx1"/>
                </a:solidFill>
              </a:rPr>
              <a:t> di Bursa </a:t>
            </a:r>
            <a:r>
              <a:rPr lang="en-US" sz="1050" dirty="0" err="1">
                <a:solidFill>
                  <a:schemeClr val="tx1"/>
                </a:solidFill>
              </a:rPr>
              <a:t>Efek</a:t>
            </a:r>
            <a:r>
              <a:rPr lang="en-US" sz="1050" dirty="0">
                <a:solidFill>
                  <a:schemeClr val="tx1"/>
                </a:solidFill>
              </a:rPr>
              <a:t> Jakarta dan Bursa </a:t>
            </a:r>
            <a:r>
              <a:rPr lang="en-US" sz="1050" dirty="0" err="1">
                <a:solidFill>
                  <a:schemeClr val="tx1"/>
                </a:solidFill>
              </a:rPr>
              <a:t>Efek</a:t>
            </a:r>
            <a:r>
              <a:rPr lang="en-US" sz="1050" dirty="0">
                <a:solidFill>
                  <a:schemeClr val="tx1"/>
                </a:solidFill>
              </a:rPr>
              <a:t> Surabaya (</a:t>
            </a:r>
            <a:r>
              <a:rPr lang="en-US" sz="1050" dirty="0" err="1">
                <a:solidFill>
                  <a:schemeClr val="tx1"/>
                </a:solidFill>
              </a:rPr>
              <a:t>kini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menjadi</a:t>
            </a:r>
            <a:r>
              <a:rPr lang="en-US" sz="1050" dirty="0">
                <a:solidFill>
                  <a:schemeClr val="tx1"/>
                </a:solidFill>
              </a:rPr>
              <a:t> Bursa </a:t>
            </a:r>
            <a:r>
              <a:rPr lang="en-US" sz="1050" dirty="0" err="1">
                <a:solidFill>
                  <a:schemeClr val="tx1"/>
                </a:solidFill>
              </a:rPr>
              <a:t>Efek</a:t>
            </a:r>
            <a:r>
              <a:rPr lang="en-US" sz="1050" dirty="0">
                <a:solidFill>
                  <a:schemeClr val="tx1"/>
                </a:solidFill>
              </a:rPr>
              <a:t> Indonesia</a:t>
            </a:r>
            <a:endParaRPr lang="en-ID" sz="1050" dirty="0">
              <a:solidFill>
                <a:schemeClr val="tx1"/>
              </a:solidFill>
            </a:endParaRPr>
          </a:p>
        </p:txBody>
      </p:sp>
      <p:sp>
        <p:nvSpPr>
          <p:cNvPr id="43" name="Flowchart: Terminator 42">
            <a:extLst>
              <a:ext uri="{FF2B5EF4-FFF2-40B4-BE49-F238E27FC236}">
                <a16:creationId xmlns:a16="http://schemas.microsoft.com/office/drawing/2014/main" id="{1C16B03B-37D9-F4F9-3719-54E87D875334}"/>
              </a:ext>
            </a:extLst>
          </p:cNvPr>
          <p:cNvSpPr/>
          <p:nvPr/>
        </p:nvSpPr>
        <p:spPr>
          <a:xfrm>
            <a:off x="4882281" y="1874084"/>
            <a:ext cx="955381" cy="283990"/>
          </a:xfrm>
          <a:prstGeom prst="flowChartTerminator">
            <a:avLst/>
          </a:prstGeom>
          <a:solidFill>
            <a:srgbClr val="F280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2001</a:t>
            </a:r>
            <a:endParaRPr lang="en-ID" b="1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FCE74A3-749A-4AC9-F052-56DA0E767F52}"/>
              </a:ext>
            </a:extLst>
          </p:cNvPr>
          <p:cNvSpPr/>
          <p:nvPr/>
        </p:nvSpPr>
        <p:spPr>
          <a:xfrm>
            <a:off x="6173044" y="2026484"/>
            <a:ext cx="1413307" cy="12827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Pharma Holding</a:t>
            </a:r>
          </a:p>
          <a:p>
            <a:r>
              <a:rPr lang="en-US" sz="1050" dirty="0" err="1">
                <a:solidFill>
                  <a:schemeClr val="tx1"/>
                </a:solidFill>
              </a:rPr>
              <a:t>Bergabung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dalam</a:t>
            </a:r>
            <a:r>
              <a:rPr lang="en-US" sz="1050" dirty="0">
                <a:solidFill>
                  <a:schemeClr val="tx1"/>
                </a:solidFill>
              </a:rPr>
              <a:t> Holding BUMN Farmasi di </a:t>
            </a:r>
            <a:r>
              <a:rPr lang="en-US" sz="1050" dirty="0" err="1">
                <a:solidFill>
                  <a:schemeClr val="tx1"/>
                </a:solidFill>
              </a:rPr>
              <a:t>bawah</a:t>
            </a:r>
            <a:r>
              <a:rPr lang="en-US" sz="1050" dirty="0">
                <a:solidFill>
                  <a:schemeClr val="tx1"/>
                </a:solidFill>
              </a:rPr>
              <a:t> PT Bio Farma (Persero)</a:t>
            </a:r>
          </a:p>
        </p:txBody>
      </p:sp>
      <p:sp>
        <p:nvSpPr>
          <p:cNvPr id="47" name="Flowchart: Terminator 46">
            <a:extLst>
              <a:ext uri="{FF2B5EF4-FFF2-40B4-BE49-F238E27FC236}">
                <a16:creationId xmlns:a16="http://schemas.microsoft.com/office/drawing/2014/main" id="{4B6C82E1-DFDA-881C-2121-ED2C42A50B12}"/>
              </a:ext>
            </a:extLst>
          </p:cNvPr>
          <p:cNvSpPr/>
          <p:nvPr/>
        </p:nvSpPr>
        <p:spPr>
          <a:xfrm>
            <a:off x="6406100" y="1874084"/>
            <a:ext cx="955381" cy="283990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2020</a:t>
            </a:r>
            <a:endParaRPr lang="en-ID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45A49C0-1BFB-DFDA-C9C4-D0E1DC3D1B59}"/>
              </a:ext>
            </a:extLst>
          </p:cNvPr>
          <p:cNvSpPr/>
          <p:nvPr/>
        </p:nvSpPr>
        <p:spPr>
          <a:xfrm>
            <a:off x="7696863" y="2026484"/>
            <a:ext cx="1413307" cy="128277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New Identity</a:t>
            </a:r>
          </a:p>
          <a:p>
            <a:r>
              <a:rPr lang="en-US" sz="1050" dirty="0">
                <a:solidFill>
                  <a:schemeClr val="tx1"/>
                </a:solidFill>
              </a:rPr>
              <a:t>Nama Kembali </a:t>
            </a:r>
            <a:r>
              <a:rPr lang="en-US" sz="1050" dirty="0" err="1">
                <a:solidFill>
                  <a:schemeClr val="tx1"/>
                </a:solidFill>
              </a:rPr>
              <a:t>menjadi</a:t>
            </a:r>
            <a:r>
              <a:rPr lang="en-US" sz="1050" dirty="0">
                <a:solidFill>
                  <a:schemeClr val="tx1"/>
                </a:solidFill>
              </a:rPr>
              <a:t> PT Kimia Farma (Persero) </a:t>
            </a:r>
            <a:r>
              <a:rPr lang="en-US" sz="1050" dirty="0" err="1">
                <a:solidFill>
                  <a:schemeClr val="tx1"/>
                </a:solidFill>
              </a:rPr>
              <a:t>Tbk</a:t>
            </a:r>
            <a:r>
              <a:rPr lang="en-US" sz="1050" dirty="0">
                <a:solidFill>
                  <a:schemeClr val="tx1"/>
                </a:solidFill>
              </a:rPr>
              <a:t>.</a:t>
            </a:r>
          </a:p>
          <a:p>
            <a:endParaRPr lang="en-ID" sz="1050" dirty="0">
              <a:solidFill>
                <a:schemeClr val="tx1"/>
              </a:solidFill>
            </a:endParaRPr>
          </a:p>
        </p:txBody>
      </p: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5B6FC64E-A857-3315-DBC6-59E2A8B60621}"/>
              </a:ext>
            </a:extLst>
          </p:cNvPr>
          <p:cNvSpPr/>
          <p:nvPr/>
        </p:nvSpPr>
        <p:spPr>
          <a:xfrm>
            <a:off x="7929919" y="1874084"/>
            <a:ext cx="955381" cy="283990"/>
          </a:xfrm>
          <a:prstGeom prst="flowChartTerminator">
            <a:avLst/>
          </a:prstGeom>
          <a:solidFill>
            <a:srgbClr val="F280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2026</a:t>
            </a:r>
            <a:endParaRPr lang="en-ID" b="1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9AB7BCB-A4C3-4524-D86E-CCF46AA58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3056" r="97222">
                        <a14:foregroundMark x1="8333" y1="46111" x2="8333" y2="46111"/>
                        <a14:foregroundMark x1="3611" y1="49444" x2="3611" y2="54722"/>
                        <a14:foregroundMark x1="92222" y1="49167" x2="92222" y2="49167"/>
                        <a14:foregroundMark x1="97222" y1="58611" x2="97222" y2="58611"/>
                        <a14:foregroundMark x1="88333" y1="59722" x2="88333" y2="59722"/>
                        <a14:foregroundMark x1="87778" y1="66111" x2="87778" y2="66111"/>
                        <a14:foregroundMark x1="88611" y1="73889" x2="88611" y2="73889"/>
                        <a14:foregroundMark x1="76389" y1="74167" x2="76389" y2="74167"/>
                        <a14:foregroundMark x1="76389" y1="66389" x2="76389" y2="66389"/>
                        <a14:foregroundMark x1="77222" y1="58611" x2="77222" y2="58611"/>
                        <a14:foregroundMark x1="58889" y1="50278" x2="58889" y2="50278"/>
                        <a14:foregroundMark x1="57778" y1="33056" x2="57778" y2="33056"/>
                        <a14:foregroundMark x1="40556" y1="33611" x2="40556" y2="33611"/>
                        <a14:foregroundMark x1="42500" y1="50000" x2="42500" y2="50000"/>
                        <a14:foregroundMark x1="23333" y1="58056" x2="23333" y2="58056"/>
                        <a14:foregroundMark x1="22222" y1="65556" x2="22222" y2="65556"/>
                        <a14:foregroundMark x1="22222" y1="73333" x2="22222" y2="73333"/>
                        <a14:foregroundMark x1="10278" y1="73056" x2="10278" y2="73056"/>
                        <a14:foregroundMark x1="12222" y1="66389" x2="12222" y2="66389"/>
                        <a14:foregroundMark x1="11944" y1="57778" x2="11944" y2="57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6942" y="1188733"/>
            <a:ext cx="507701" cy="507701"/>
          </a:xfrm>
          <a:prstGeom prst="rect">
            <a:avLst/>
          </a:prstGeom>
        </p:spPr>
      </p:pic>
      <p:pic>
        <p:nvPicPr>
          <p:cNvPr id="56" name="Picture 55" descr="Go Public Icons - Free SVG &amp; PNG Go Public Images - Noun Project">
            <a:extLst>
              <a:ext uri="{FF2B5EF4-FFF2-40B4-BE49-F238E27FC236}">
                <a16:creationId xmlns:a16="http://schemas.microsoft.com/office/drawing/2014/main" id="{AFBA3AE9-6B08-BFD6-AC52-19C3564CED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3774" y="1245212"/>
            <a:ext cx="361842" cy="361842"/>
          </a:xfrm>
          <a:prstGeom prst="rect">
            <a:avLst/>
          </a:prstGeom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id="{DA72A7AB-E4C9-839D-C616-F737D573DAA0}"/>
              </a:ext>
            </a:extLst>
          </p:cNvPr>
          <p:cNvSpPr/>
          <p:nvPr/>
        </p:nvSpPr>
        <p:spPr>
          <a:xfrm>
            <a:off x="3517703" y="1141971"/>
            <a:ext cx="628715" cy="6096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1CAB594-CC3A-BEBE-8B71-FB8DE48E3DA8}"/>
              </a:ext>
            </a:extLst>
          </p:cNvPr>
          <p:cNvSpPr/>
          <p:nvPr/>
        </p:nvSpPr>
        <p:spPr>
          <a:xfrm>
            <a:off x="6569432" y="1137778"/>
            <a:ext cx="628715" cy="6096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5" name="Picture 54" descr="Document - Free education icons">
            <a:extLst>
              <a:ext uri="{FF2B5EF4-FFF2-40B4-BE49-F238E27FC236}">
                <a16:creationId xmlns:a16="http://schemas.microsoft.com/office/drawing/2014/main" id="{6349CA15-CB64-FEC7-C1D6-6027EEC1E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203" y="1212418"/>
            <a:ext cx="461711" cy="461711"/>
          </a:xfrm>
          <a:prstGeom prst="rect">
            <a:avLst/>
          </a:prstGeom>
        </p:spPr>
      </p:pic>
      <p:pic>
        <p:nvPicPr>
          <p:cNvPr id="59" name="Picture 58" descr="Group - Free people icons">
            <a:extLst>
              <a:ext uri="{FF2B5EF4-FFF2-40B4-BE49-F238E27FC236}">
                <a16:creationId xmlns:a16="http://schemas.microsoft.com/office/drawing/2014/main" id="{8AE131F3-6957-53AD-1098-B85648A276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0861" y="1196475"/>
            <a:ext cx="451139" cy="451139"/>
          </a:xfrm>
          <a:prstGeom prst="rect">
            <a:avLst/>
          </a:prstGeom>
        </p:spPr>
      </p:pic>
      <p:sp>
        <p:nvSpPr>
          <p:cNvPr id="69" name="Oval 68">
            <a:extLst>
              <a:ext uri="{FF2B5EF4-FFF2-40B4-BE49-F238E27FC236}">
                <a16:creationId xmlns:a16="http://schemas.microsoft.com/office/drawing/2014/main" id="{13D20E22-9490-C752-A7B4-1DDF4481D429}"/>
              </a:ext>
            </a:extLst>
          </p:cNvPr>
          <p:cNvSpPr/>
          <p:nvPr/>
        </p:nvSpPr>
        <p:spPr>
          <a:xfrm>
            <a:off x="2017239" y="1155287"/>
            <a:ext cx="628715" cy="60961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4" name="Picture 53" descr="Republic of Indonesia flag icon,vector illustration logo design. 19467655  Vector Art at Vecteezy">
            <a:extLst>
              <a:ext uri="{FF2B5EF4-FFF2-40B4-BE49-F238E27FC236}">
                <a16:creationId xmlns:a16="http://schemas.microsoft.com/office/drawing/2014/main" id="{9A4BD2C3-0D7F-1672-C85C-397999935D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60714" y1="63571" x2="60714" y2="63571"/>
                        <a14:foregroundMark x1="62347" y1="50918" x2="62347" y2="50918"/>
                      </a14:backgroundRemoval>
                    </a14:imgEffect>
                  </a14:imgLayer>
                </a14:imgProps>
              </a:ext>
            </a:extLst>
          </a:blip>
          <a:srcRect t="25278" b="21805"/>
          <a:stretch>
            <a:fillRect/>
          </a:stretch>
        </p:blipFill>
        <p:spPr>
          <a:xfrm>
            <a:off x="1993681" y="1285244"/>
            <a:ext cx="652273" cy="345159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CD76CA2-D9C4-81C7-6C44-7F224656EBEB}"/>
              </a:ext>
            </a:extLst>
          </p:cNvPr>
          <p:cNvCxnSpPr>
            <a:cxnSpLocks/>
            <a:endCxn id="69" idx="2"/>
          </p:cNvCxnSpPr>
          <p:nvPr/>
        </p:nvCxnSpPr>
        <p:spPr>
          <a:xfrm>
            <a:off x="1127236" y="1460092"/>
            <a:ext cx="8900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8721D0D-ABD6-60D7-6195-F2363787B8C3}"/>
              </a:ext>
            </a:extLst>
          </p:cNvPr>
          <p:cNvCxnSpPr>
            <a:cxnSpLocks/>
            <a:stCxn id="69" idx="6"/>
            <a:endCxn id="65" idx="2"/>
          </p:cNvCxnSpPr>
          <p:nvPr/>
        </p:nvCxnSpPr>
        <p:spPr>
          <a:xfrm flipV="1">
            <a:off x="2645954" y="1446776"/>
            <a:ext cx="871749" cy="1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0E321F8-598C-1EA1-A66C-69C57C5AA23B}"/>
              </a:ext>
            </a:extLst>
          </p:cNvPr>
          <p:cNvCxnSpPr>
            <a:stCxn id="65" idx="6"/>
          </p:cNvCxnSpPr>
          <p:nvPr/>
        </p:nvCxnSpPr>
        <p:spPr>
          <a:xfrm>
            <a:off x="4146418" y="1446776"/>
            <a:ext cx="889377" cy="6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FB64CEE-C428-0B65-D315-AC9C2FFF18B3}"/>
              </a:ext>
            </a:extLst>
          </p:cNvPr>
          <p:cNvCxnSpPr>
            <a:endCxn id="67" idx="2"/>
          </p:cNvCxnSpPr>
          <p:nvPr/>
        </p:nvCxnSpPr>
        <p:spPr>
          <a:xfrm flipV="1">
            <a:off x="5664510" y="1442583"/>
            <a:ext cx="904922" cy="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0E01A1-E97F-B7E4-383C-AE94470357CC}"/>
              </a:ext>
            </a:extLst>
          </p:cNvPr>
          <p:cNvCxnSpPr>
            <a:stCxn id="67" idx="6"/>
          </p:cNvCxnSpPr>
          <p:nvPr/>
        </p:nvCxnSpPr>
        <p:spPr>
          <a:xfrm>
            <a:off x="7198147" y="1442583"/>
            <a:ext cx="830704" cy="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Shape 30">
            <a:extLst>
              <a:ext uri="{FF2B5EF4-FFF2-40B4-BE49-F238E27FC236}">
                <a16:creationId xmlns:a16="http://schemas.microsoft.com/office/drawing/2014/main" id="{4A751DD7-BECF-D255-764C-67581EE66B89}"/>
              </a:ext>
            </a:extLst>
          </p:cNvPr>
          <p:cNvSpPr/>
          <p:nvPr/>
        </p:nvSpPr>
        <p:spPr>
          <a:xfrm>
            <a:off x="481440" y="3554146"/>
            <a:ext cx="4041029" cy="539576"/>
          </a:xfrm>
          <a:prstGeom prst="roundRect">
            <a:avLst>
              <a:gd name="adj" fmla="val 7724"/>
            </a:avLst>
          </a:prstGeom>
          <a:solidFill>
            <a:schemeClr val="tx2">
              <a:lumMod val="90000"/>
            </a:schemeClr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D" sz="110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9F837FEB-F6D0-3829-FFDD-6874FB4C7C6B}"/>
              </a:ext>
            </a:extLst>
          </p:cNvPr>
          <p:cNvSpPr/>
          <p:nvPr/>
        </p:nvSpPr>
        <p:spPr>
          <a:xfrm>
            <a:off x="585393" y="3658101"/>
            <a:ext cx="3833121" cy="155005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b="1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200+ Tahun</a:t>
            </a:r>
            <a:endParaRPr lang="en-US" sz="1100" dirty="0"/>
          </a:p>
        </p:txBody>
      </p:sp>
      <p:sp>
        <p:nvSpPr>
          <p:cNvPr id="92" name="Text 32">
            <a:extLst>
              <a:ext uri="{FF2B5EF4-FFF2-40B4-BE49-F238E27FC236}">
                <a16:creationId xmlns:a16="http://schemas.microsoft.com/office/drawing/2014/main" id="{8E6027BB-8AB9-1904-445F-DF44F426FF10}"/>
              </a:ext>
            </a:extLst>
          </p:cNvPr>
          <p:cNvSpPr/>
          <p:nvPr/>
        </p:nvSpPr>
        <p:spPr>
          <a:xfrm>
            <a:off x="585393" y="3854779"/>
            <a:ext cx="3833121" cy="134987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10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Pengalaman di industri farmasi Indonesia</a:t>
            </a:r>
            <a:endParaRPr lang="en-US" sz="1100" dirty="0"/>
          </a:p>
        </p:txBody>
      </p:sp>
      <p:sp>
        <p:nvSpPr>
          <p:cNvPr id="94" name="Shape 33">
            <a:extLst>
              <a:ext uri="{FF2B5EF4-FFF2-40B4-BE49-F238E27FC236}">
                <a16:creationId xmlns:a16="http://schemas.microsoft.com/office/drawing/2014/main" id="{87CC9764-460F-D00B-C82C-DE736FE72690}"/>
              </a:ext>
            </a:extLst>
          </p:cNvPr>
          <p:cNvSpPr/>
          <p:nvPr/>
        </p:nvSpPr>
        <p:spPr>
          <a:xfrm>
            <a:off x="4591894" y="3554146"/>
            <a:ext cx="4041104" cy="539576"/>
          </a:xfrm>
          <a:prstGeom prst="roundRect">
            <a:avLst>
              <a:gd name="adj" fmla="val 7724"/>
            </a:avLst>
          </a:prstGeom>
          <a:solidFill>
            <a:schemeClr val="tx2">
              <a:lumMod val="90000"/>
            </a:schemeClr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D" sz="1100"/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7858AFC3-37FD-CF34-54B4-7F3FD075D155}"/>
              </a:ext>
            </a:extLst>
          </p:cNvPr>
          <p:cNvSpPr/>
          <p:nvPr/>
        </p:nvSpPr>
        <p:spPr>
          <a:xfrm>
            <a:off x="4695848" y="3658101"/>
            <a:ext cx="3833196" cy="155005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b="1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Pharmaceutical</a:t>
            </a:r>
            <a:endParaRPr lang="en-US" sz="1100" dirty="0"/>
          </a:p>
        </p:txBody>
      </p:sp>
      <p:sp>
        <p:nvSpPr>
          <p:cNvPr id="98" name="Text 35">
            <a:extLst>
              <a:ext uri="{FF2B5EF4-FFF2-40B4-BE49-F238E27FC236}">
                <a16:creationId xmlns:a16="http://schemas.microsoft.com/office/drawing/2014/main" id="{6334A611-39F6-EAD9-4CAD-31784B9D8389}"/>
              </a:ext>
            </a:extLst>
          </p:cNvPr>
          <p:cNvSpPr/>
          <p:nvPr/>
        </p:nvSpPr>
        <p:spPr>
          <a:xfrm>
            <a:off x="4695848" y="3854779"/>
            <a:ext cx="3833196" cy="134987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10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Produksi &amp; distribusi obat-obatan berkualitas tinggi</a:t>
            </a:r>
            <a:endParaRPr lang="en-US" sz="1100" dirty="0"/>
          </a:p>
        </p:txBody>
      </p:sp>
      <p:sp>
        <p:nvSpPr>
          <p:cNvPr id="106" name="Shape 36">
            <a:extLst>
              <a:ext uri="{FF2B5EF4-FFF2-40B4-BE49-F238E27FC236}">
                <a16:creationId xmlns:a16="http://schemas.microsoft.com/office/drawing/2014/main" id="{E980912C-6514-854F-B4D4-557513C7591B}"/>
              </a:ext>
            </a:extLst>
          </p:cNvPr>
          <p:cNvSpPr/>
          <p:nvPr/>
        </p:nvSpPr>
        <p:spPr>
          <a:xfrm>
            <a:off x="481440" y="4163150"/>
            <a:ext cx="4041029" cy="539576"/>
          </a:xfrm>
          <a:prstGeom prst="roundRect">
            <a:avLst>
              <a:gd name="adj" fmla="val 7724"/>
            </a:avLst>
          </a:prstGeom>
          <a:solidFill>
            <a:schemeClr val="tx2">
              <a:lumMod val="90000"/>
            </a:schemeClr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D" sz="1100"/>
          </a:p>
        </p:txBody>
      </p:sp>
      <p:sp>
        <p:nvSpPr>
          <p:cNvPr id="108" name="Text 37">
            <a:extLst>
              <a:ext uri="{FF2B5EF4-FFF2-40B4-BE49-F238E27FC236}">
                <a16:creationId xmlns:a16="http://schemas.microsoft.com/office/drawing/2014/main" id="{D5F20FC1-CC2C-9D2F-F271-3BA0FB58E7B5}"/>
              </a:ext>
            </a:extLst>
          </p:cNvPr>
          <p:cNvSpPr/>
          <p:nvPr/>
        </p:nvSpPr>
        <p:spPr>
          <a:xfrm>
            <a:off x="585393" y="4267107"/>
            <a:ext cx="3833121" cy="155005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b="1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10" name="Text 38">
            <a:extLst>
              <a:ext uri="{FF2B5EF4-FFF2-40B4-BE49-F238E27FC236}">
                <a16:creationId xmlns:a16="http://schemas.microsoft.com/office/drawing/2014/main" id="{9F62E218-FBED-1B88-D820-AB0DEA7EEDFA}"/>
              </a:ext>
            </a:extLst>
          </p:cNvPr>
          <p:cNvSpPr/>
          <p:nvPr/>
        </p:nvSpPr>
        <p:spPr>
          <a:xfrm>
            <a:off x="585393" y="4463783"/>
            <a:ext cx="3833121" cy="134987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10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Layanan kesehatan terintegrasi untuk masyarakat</a:t>
            </a:r>
            <a:endParaRPr lang="en-US" sz="1100" dirty="0"/>
          </a:p>
        </p:txBody>
      </p:sp>
      <p:sp>
        <p:nvSpPr>
          <p:cNvPr id="116" name="Shape 33">
            <a:extLst>
              <a:ext uri="{FF2B5EF4-FFF2-40B4-BE49-F238E27FC236}">
                <a16:creationId xmlns:a16="http://schemas.microsoft.com/office/drawing/2014/main" id="{17A68273-A2BD-B98C-2E6C-04ADAE1EBF9E}"/>
              </a:ext>
            </a:extLst>
          </p:cNvPr>
          <p:cNvSpPr/>
          <p:nvPr/>
        </p:nvSpPr>
        <p:spPr>
          <a:xfrm>
            <a:off x="4611328" y="4163150"/>
            <a:ext cx="4041104" cy="539576"/>
          </a:xfrm>
          <a:prstGeom prst="roundRect">
            <a:avLst>
              <a:gd name="adj" fmla="val 7724"/>
            </a:avLst>
          </a:prstGeom>
          <a:solidFill>
            <a:schemeClr val="tx2">
              <a:lumMod val="90000"/>
            </a:schemeClr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D" sz="1100"/>
          </a:p>
        </p:txBody>
      </p:sp>
      <p:sp>
        <p:nvSpPr>
          <p:cNvPr id="112" name="Text 40">
            <a:extLst>
              <a:ext uri="{FF2B5EF4-FFF2-40B4-BE49-F238E27FC236}">
                <a16:creationId xmlns:a16="http://schemas.microsoft.com/office/drawing/2014/main" id="{5DCD8B4B-382B-0947-D9BF-39D5B86500BA}"/>
              </a:ext>
            </a:extLst>
          </p:cNvPr>
          <p:cNvSpPr/>
          <p:nvPr/>
        </p:nvSpPr>
        <p:spPr>
          <a:xfrm>
            <a:off x="4695848" y="4267107"/>
            <a:ext cx="3833196" cy="155005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b="1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Retail</a:t>
            </a:r>
            <a:endParaRPr lang="en-US" sz="1100" dirty="0"/>
          </a:p>
        </p:txBody>
      </p:sp>
      <p:sp>
        <p:nvSpPr>
          <p:cNvPr id="114" name="Text 41">
            <a:extLst>
              <a:ext uri="{FF2B5EF4-FFF2-40B4-BE49-F238E27FC236}">
                <a16:creationId xmlns:a16="http://schemas.microsoft.com/office/drawing/2014/main" id="{88AFCC68-7909-1E3B-9DAA-3C82578F2084}"/>
              </a:ext>
            </a:extLst>
          </p:cNvPr>
          <p:cNvSpPr/>
          <p:nvPr/>
        </p:nvSpPr>
        <p:spPr>
          <a:xfrm>
            <a:off x="4695848" y="4463783"/>
            <a:ext cx="3833196" cy="134987"/>
          </a:xfrm>
          <a:prstGeom prst="rect">
            <a:avLst/>
          </a:prstGeom>
          <a:solidFill>
            <a:schemeClr val="tx2">
              <a:lumMod val="90000"/>
            </a:schemeClr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10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Jaringan apotek terluas di seluruh Indonesia</a:t>
            </a:r>
            <a:endParaRPr lang="en-US" sz="11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0934EC4-0E97-F500-0BC7-5EC1D9130C96}"/>
              </a:ext>
            </a:extLst>
          </p:cNvPr>
          <p:cNvSpPr/>
          <p:nvPr/>
        </p:nvSpPr>
        <p:spPr>
          <a:xfrm>
            <a:off x="8031761" y="1144380"/>
            <a:ext cx="628715" cy="60961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60" name="Picture 59" descr="Medal - Free icons">
            <a:extLst>
              <a:ext uri="{FF2B5EF4-FFF2-40B4-BE49-F238E27FC236}">
                <a16:creationId xmlns:a16="http://schemas.microsoft.com/office/drawing/2014/main" id="{A1B20B2B-468C-0E1F-5CF6-314B37E837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4603" y="1245212"/>
            <a:ext cx="457210" cy="457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61" grpId="0" animBg="1"/>
      <p:bldP spid="8" grpId="0" animBg="1"/>
      <p:bldP spid="9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65" grpId="0" animBg="1"/>
      <p:bldP spid="67" grpId="0" animBg="1"/>
      <p:bldP spid="69" grpId="0" animBg="1"/>
      <p:bldP spid="88" grpId="0" animBg="1"/>
      <p:bldP spid="90" grpId="0" animBg="1"/>
      <p:bldP spid="92" grpId="0" animBg="1"/>
      <p:bldP spid="94" grpId="0" animBg="1"/>
      <p:bldP spid="96" grpId="0" animBg="1"/>
      <p:bldP spid="98" grpId="0" animBg="1"/>
      <p:bldP spid="106" grpId="0" animBg="1"/>
      <p:bldP spid="108" grpId="0" animBg="1"/>
      <p:bldP spid="110" grpId="0" animBg="1"/>
      <p:bldP spid="116" grpId="0" animBg="1"/>
      <p:bldP spid="112" grpId="0" animBg="1"/>
      <p:bldP spid="114" grpId="0" animBg="1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dirty="0">
                <a:solidFill>
                  <a:srgbClr val="0097A7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 dirty="0">
              <a:solidFill>
                <a:srgbClr val="0097A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" name="Google Shape;79;p3">
            <a:extLst>
              <a:ext uri="{FF2B5EF4-FFF2-40B4-BE49-F238E27FC236}">
                <a16:creationId xmlns:a16="http://schemas.microsoft.com/office/drawing/2014/main" id="{E92734E6-E833-7F99-E9CA-B76B09A7E049}"/>
              </a:ext>
            </a:extLst>
          </p:cNvPr>
          <p:cNvSpPr txBox="1"/>
          <p:nvPr/>
        </p:nvSpPr>
        <p:spPr>
          <a:xfrm>
            <a:off x="188098" y="1082285"/>
            <a:ext cx="84630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Kimia Farma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ratusan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berbagai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di Indonesia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yang sangat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besar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(2020–2023). Perusahaan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membutuhkan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visibilitas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menyeluruh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terhadap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kinerja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penjualan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profitabilitas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tiap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mendukung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pengambilan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keputusan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bisnis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en-ID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Data yang </a:t>
            </a:r>
            <a:r>
              <a:rPr lang="en-ID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endParaRPr lang="en-ID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Transaction: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pelanggan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diskon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tanggal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dan rating.</a:t>
            </a:r>
          </a:p>
          <a:p>
            <a:pPr lvl="0"/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Product: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produk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Branch: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kota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dan rating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Inventory: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stok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produk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Tools &amp; Process</a:t>
            </a:r>
          </a:p>
          <a:p>
            <a:r>
              <a:rPr lang="en-ID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BigQuery</a:t>
            </a:r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 (SQL)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→ </a:t>
            </a:r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Data Integration &amp; Analysis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→ </a:t>
            </a:r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Looker Studio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→ </a:t>
            </a:r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Interactive Dashboard</a:t>
            </a:r>
          </a:p>
          <a:p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D" sz="1100" b="1" dirty="0">
                <a:latin typeface="Poppins" panose="00000500000000000000" pitchFamily="2" charset="0"/>
                <a:cs typeface="Poppins" panose="00000500000000000000" pitchFamily="2" charset="0"/>
              </a:rPr>
              <a:t>Problem Statement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Bagaimana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perkembangan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penjualan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dan profit Kimia Farma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tahun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2020–2023?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mana yang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kontribusi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terbesar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terhadap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dan nett sales?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Apakah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rating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tetapi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rating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yang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mengindikasikan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adanya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kesenjangan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reputasi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pengalaman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pelanggan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F65F4-B46B-34E5-20B6-4DB704FE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0786" y="4511397"/>
            <a:ext cx="3016716" cy="420900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0097A7"/>
                </a:solidFill>
                <a:latin typeface="Rubik" panose="020B0604020202020204" charset="-79"/>
                <a:cs typeface="Rubik" panose="020B0604020202020204" charset="-79"/>
                <a:hlinkClick r:id="rId5"/>
              </a:rPr>
              <a:t>Link video </a:t>
            </a:r>
            <a:r>
              <a:rPr lang="en-US" sz="1800" b="1" dirty="0" err="1">
                <a:solidFill>
                  <a:srgbClr val="0097A7"/>
                </a:solidFill>
                <a:latin typeface="Rubik" panose="020B0604020202020204" charset="-79"/>
                <a:cs typeface="Rubik" panose="020B0604020202020204" charset="-79"/>
                <a:hlinkClick r:id="rId5"/>
              </a:rPr>
              <a:t>presentasi</a:t>
            </a:r>
            <a:endParaRPr lang="en-ID" sz="1800" b="1" dirty="0">
              <a:solidFill>
                <a:srgbClr val="0097A7"/>
              </a:solidFill>
              <a:latin typeface="Rubik" panose="020B0604020202020204" charset="-79"/>
              <a:cs typeface="Rubik" panose="020B0604020202020204" charset="-79"/>
              <a:hlinkClick r:id="rId5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>
              <a:buSzPts val="2700"/>
              <a:buFont typeface="Rubik"/>
              <a:buAutoNum type="arabicPeriod"/>
            </a:pPr>
            <a:r>
              <a:rPr lang="en-ID" sz="2800" b="1" dirty="0" err="1"/>
              <a:t>Impor</a:t>
            </a:r>
            <a:r>
              <a:rPr lang="en-ID" sz="2800" b="1" dirty="0"/>
              <a:t> Dataset </a:t>
            </a:r>
            <a:r>
              <a:rPr lang="en-ID" sz="2800" b="1" dirty="0" err="1"/>
              <a:t>ke</a:t>
            </a:r>
            <a:r>
              <a:rPr lang="en-ID" sz="2800" b="1" dirty="0"/>
              <a:t> </a:t>
            </a:r>
            <a:r>
              <a:rPr lang="en-ID" sz="2800" b="1" dirty="0" err="1"/>
              <a:t>BigQuery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g23ec2985a68_1_33"/>
          <p:cNvSpPr txBox="1"/>
          <p:nvPr/>
        </p:nvSpPr>
        <p:spPr>
          <a:xfrm>
            <a:off x="340500" y="3591614"/>
            <a:ext cx="8169516" cy="156963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5000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Pada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tahap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awal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seluruh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dataset Kimia Farma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diimpor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Google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BigQuery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tempat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penyimpanan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pengolahan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data. Dataset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dikelompokkan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satu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i="1" dirty="0">
                <a:latin typeface="Poppins" panose="00000500000000000000" pitchFamily="2" charset="0"/>
                <a:cs typeface="Poppins" panose="00000500000000000000" pitchFamily="2" charset="0"/>
              </a:rPr>
              <a:t>dataset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bernama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kimia</a:t>
            </a:r>
            <a:r>
              <a:rPr lang="en-ID" sz="1200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_farma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yang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terdiri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empat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tabel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kf_final_transaction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kf_inventory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kf_kantor_cabang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ID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kf_product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Tahap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dilakukan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menyiapkan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data yang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terstruktur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proses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integrasi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lanjut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sz="12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Rubik"/>
              <a:cs typeface="Poppins" panose="00000500000000000000" pitchFamily="2" charset="0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00AB1-BD21-9216-10B7-E9BC83A4C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69" y="1111529"/>
            <a:ext cx="5318760" cy="2548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BE4B6-795F-D23F-EDCA-141B269861CA}"/>
              </a:ext>
            </a:extLst>
          </p:cNvPr>
          <p:cNvSpPr txBox="1"/>
          <p:nvPr/>
        </p:nvSpPr>
        <p:spPr>
          <a:xfrm>
            <a:off x="5672329" y="1617643"/>
            <a:ext cx="3236976" cy="135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>
                <a:latin typeface="Poppins" panose="00000500000000000000" pitchFamily="2" charset="0"/>
                <a:cs typeface="Poppins" panose="00000500000000000000" pitchFamily="2" charset="0"/>
              </a:rPr>
              <a:t>Strategi:</a:t>
            </a:r>
            <a:b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D" b="1" dirty="0">
                <a:latin typeface="Poppins" panose="00000500000000000000" pitchFamily="2" charset="0"/>
                <a:cs typeface="Poppins" panose="00000500000000000000" pitchFamily="2" charset="0"/>
              </a:rPr>
              <a:t>Import Dataset → </a:t>
            </a:r>
            <a:r>
              <a:rPr lang="en-ID" b="1" dirty="0" err="1">
                <a:latin typeface="Poppins" panose="00000500000000000000" pitchFamily="2" charset="0"/>
                <a:cs typeface="Poppins" panose="00000500000000000000" pitchFamily="2" charset="0"/>
              </a:rPr>
              <a:t>BigQuery</a:t>
            </a:r>
            <a:r>
              <a:rPr lang="en-ID" b="1" dirty="0">
                <a:latin typeface="Poppins" panose="00000500000000000000" pitchFamily="2" charset="0"/>
                <a:cs typeface="Poppins" panose="00000500000000000000" pitchFamily="2" charset="0"/>
              </a:rPr>
              <a:t> → </a:t>
            </a:r>
            <a:r>
              <a:rPr lang="en-ID" b="1" dirty="0" err="1">
                <a:latin typeface="Poppins" panose="00000500000000000000" pitchFamily="2" charset="0"/>
                <a:cs typeface="Poppins" panose="00000500000000000000" pitchFamily="2" charset="0"/>
              </a:rPr>
              <a:t>Pengelompokan</a:t>
            </a:r>
            <a:r>
              <a:rPr lang="en-ID" b="1" dirty="0">
                <a:latin typeface="Poppins" panose="00000500000000000000" pitchFamily="2" charset="0"/>
                <a:cs typeface="Poppins" panose="00000500000000000000" pitchFamily="2" charset="0"/>
              </a:rPr>
              <a:t> Tabel → Data </a:t>
            </a:r>
            <a:r>
              <a:rPr lang="en-ID" b="1" dirty="0" err="1">
                <a:latin typeface="Poppins" panose="00000500000000000000" pitchFamily="2" charset="0"/>
                <a:cs typeface="Poppins" panose="00000500000000000000" pitchFamily="2" charset="0"/>
              </a:rPr>
              <a:t>Siap</a:t>
            </a:r>
            <a:r>
              <a:rPr lang="en-ID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b="1" dirty="0" err="1">
                <a:latin typeface="Poppins" panose="00000500000000000000" pitchFamily="2" charset="0"/>
                <a:cs typeface="Poppins" panose="00000500000000000000" pitchFamily="2" charset="0"/>
              </a:rPr>
              <a:t>Dianalisis</a:t>
            </a:r>
            <a:endParaRPr lang="en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2. BigQuery Syntax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7" name="Google Shape;137;g23ec2985a68_1_49"/>
          <p:cNvSpPr txBox="1"/>
          <p:nvPr/>
        </p:nvSpPr>
        <p:spPr>
          <a:xfrm>
            <a:off x="5059680" y="1176308"/>
            <a:ext cx="3925824" cy="2285211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tabel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analisa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menggabungkan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produk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LEFT JOIN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Selanjutnya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dilakukan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perhitungan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persentase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gross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laba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rentang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serta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menghitung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nett sales dan nett profit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setelah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diskon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 Tabel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analisa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dihasilkan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kemudian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sumber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membangun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dashboard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interaktif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di Looker Studio.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82A7F7-1172-4AC2-AF95-E0FEA32F5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96" y="984765"/>
            <a:ext cx="4742688" cy="3672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5C87A1-A7B2-F70E-1230-DE50AFE1BE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289"/>
          <a:stretch>
            <a:fillRect/>
          </a:stretch>
        </p:blipFill>
        <p:spPr>
          <a:xfrm>
            <a:off x="158496" y="4472760"/>
            <a:ext cx="4742688" cy="511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13EC70-432C-2D16-6A2B-E1464B5F9ED7}"/>
              </a:ext>
            </a:extLst>
          </p:cNvPr>
          <p:cNvSpPr txBox="1"/>
          <p:nvPr/>
        </p:nvSpPr>
        <p:spPr>
          <a:xfrm>
            <a:off x="5059679" y="3461519"/>
            <a:ext cx="34166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000" b="1" dirty="0">
                <a:latin typeface="Rubik"/>
                <a:ea typeface="Rubik"/>
                <a:cs typeface="Rubik"/>
                <a:sym typeface="Rubik"/>
              </a:rPr>
              <a:t>Link </a:t>
            </a:r>
            <a:r>
              <a:rPr lang="en-US" sz="1000" b="1" dirty="0" err="1">
                <a:latin typeface="Rubik"/>
                <a:ea typeface="Rubik"/>
                <a:cs typeface="Rubik"/>
                <a:sym typeface="Rubik"/>
              </a:rPr>
              <a:t>Github</a:t>
            </a:r>
            <a:r>
              <a:rPr lang="en-US" sz="1000" b="1" dirty="0">
                <a:latin typeface="Rubik"/>
                <a:ea typeface="Rubik"/>
                <a:cs typeface="Rubik"/>
                <a:sym typeface="Rubik"/>
              </a:rPr>
              <a:t> : </a:t>
            </a:r>
            <a:r>
              <a:rPr lang="en-ID" sz="1200" b="1" dirty="0">
                <a:hlinkClick r:id="rId7"/>
              </a:rPr>
              <a:t>Kimia Farma Analytics Project</a:t>
            </a:r>
            <a:endParaRPr lang="en-ID" sz="1200" dirty="0"/>
          </a:p>
          <a:p>
            <a:br>
              <a:rPr lang="en-ID" sz="1000" dirty="0"/>
            </a:br>
            <a:endParaRPr lang="en-ID" sz="1000" b="1"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3. Tabel Analisa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9" name="Google Shape;129;g23ec2985a68_1_42"/>
          <p:cNvSpPr txBox="1"/>
          <p:nvPr/>
        </p:nvSpPr>
        <p:spPr>
          <a:xfrm>
            <a:off x="340500" y="3676545"/>
            <a:ext cx="6473952" cy="1454214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dk1"/>
              </a:buClr>
              <a:buSzPts val="5000"/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Tabel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tabel_analisa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merupakan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hasil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integrasi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produk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diolah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BigQuery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SQL. Tabel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menyatukan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penting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tanggal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wilayah,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produk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diskon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profit, dan rating. Hasil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tabel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kemudian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sumber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proses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visualisasi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pada dashboard Looker Studio.</a:t>
            </a:r>
            <a:endParaRPr sz="1100" dirty="0">
              <a:latin typeface="Poppins" panose="00000500000000000000" pitchFamily="2" charset="0"/>
              <a:ea typeface="Rubik"/>
              <a:cs typeface="Poppins" panose="00000500000000000000" pitchFamily="2" charset="0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997B0-E5F4-0B12-4B36-CDDFCB0FE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64" y="1146048"/>
            <a:ext cx="5779008" cy="2480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45429-D5D4-9F2A-4934-31800F8F6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742" y="887404"/>
            <a:ext cx="2663108" cy="2827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5" name="Google Shape;145;g23ec2985a68_1_56"/>
          <p:cNvSpPr txBox="1"/>
          <p:nvPr/>
        </p:nvSpPr>
        <p:spPr>
          <a:xfrm>
            <a:off x="4927957" y="1335962"/>
            <a:ext cx="3875543" cy="3093124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Dashboard Kimia Farma Performance Analytics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dibuat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Google Looker Studio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tabel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tabel_analisa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BigQuery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sumber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data. Dashboard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dirancang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memberikan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gambaran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menyeluruh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mengenai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kinerja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Kimia Farma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selama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periode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2020–2023,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filter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kota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disajikan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mencakup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nett sales, nett profit,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tren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pendapatan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tahunan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performa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dan nett sales per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profit, snapshot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terbaru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geo map total profit per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serta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perbandingan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rating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 dan rating </a:t>
            </a:r>
            <a:r>
              <a:rPr lang="en-ID" sz="105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05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8979E-9230-D55D-763C-ABDC129CA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368" y="1052338"/>
            <a:ext cx="2893676" cy="4091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1DAE5F-F201-3B4D-9A83-1AF33F26645E}"/>
              </a:ext>
            </a:extLst>
          </p:cNvPr>
          <p:cNvSpPr txBox="1"/>
          <p:nvPr/>
        </p:nvSpPr>
        <p:spPr>
          <a:xfrm>
            <a:off x="2237232" y="2018294"/>
            <a:ext cx="4669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D" b="1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623FF-4365-1EBF-D2B1-E8AB967BE69F}"/>
              </a:ext>
            </a:extLst>
          </p:cNvPr>
          <p:cNvSpPr txBox="1"/>
          <p:nvPr/>
        </p:nvSpPr>
        <p:spPr>
          <a:xfrm>
            <a:off x="6060185" y="4414912"/>
            <a:ext cx="1611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chemeClr val="accent5"/>
                </a:solidFill>
                <a:latin typeface="Rubik"/>
                <a:cs typeface="Rubik"/>
                <a:sym typeface="Rubik"/>
                <a:hlinkClick r:id="rId6"/>
              </a:rPr>
              <a:t>Link Dashboard</a:t>
            </a:r>
            <a:endParaRPr lang="en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00EA943-0DB8-2111-4D0E-B8809513A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>
            <a:extLst>
              <a:ext uri="{FF2B5EF4-FFF2-40B4-BE49-F238E27FC236}">
                <a16:creationId xmlns:a16="http://schemas.microsoft.com/office/drawing/2014/main" id="{1B67DC60-D7A2-9E62-E380-1E27DAB8C1F9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>
            <a:extLst>
              <a:ext uri="{FF2B5EF4-FFF2-40B4-BE49-F238E27FC236}">
                <a16:creationId xmlns:a16="http://schemas.microsoft.com/office/drawing/2014/main" id="{79CF3E94-8C17-9637-FDF7-E7F7C6D62A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>
            <a:extLst>
              <a:ext uri="{FF2B5EF4-FFF2-40B4-BE49-F238E27FC236}">
                <a16:creationId xmlns:a16="http://schemas.microsoft.com/office/drawing/2014/main" id="{03754B91-DC65-5B4E-82DF-BBA259B9E12C}"/>
              </a:ext>
            </a:extLst>
          </p:cNvPr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5" name="Google Shape;145;g23ec2985a68_1_56">
            <a:extLst>
              <a:ext uri="{FF2B5EF4-FFF2-40B4-BE49-F238E27FC236}">
                <a16:creationId xmlns:a16="http://schemas.microsoft.com/office/drawing/2014/main" id="{4649284F-70C5-140C-C04C-7CE056D05C5D}"/>
              </a:ext>
            </a:extLst>
          </p:cNvPr>
          <p:cNvSpPr txBox="1"/>
          <p:nvPr/>
        </p:nvSpPr>
        <p:spPr>
          <a:xfrm>
            <a:off x="340500" y="1318751"/>
            <a:ext cx="8463000" cy="3785621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Jawa Barat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nett sales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bahwa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wilayah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merupakan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satu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kontributor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bisnis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Kimia Farma.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Nett sales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relatif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stabil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selama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2020–2023.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Penjualan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turun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2020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2021,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meningkat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pada 2022,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kemudian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kembali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sedikit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menurun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pada 2023.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rating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(&gt;4,7)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tetapi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rating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(±3,99–4,0),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Pematangsiantar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Sorong, dan Cilacap. Hal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adanya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potensi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gap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persepsi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terhadap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pengalaman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pelanggan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saat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bertransaksi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profit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berbeda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antarprovinsi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peluang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mengevaluasi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kontribusi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profit yang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mengembangkan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strategi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peningkatan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penjualan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di wilayah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tersebut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Kinerja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penjualan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Kimia Farma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relatif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stabil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Jawa Barat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satu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kontributor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 Di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pelanggan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perlu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dievaluasi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adanya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perbedaan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rating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cabang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rating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31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i="0" u="none" strike="noStrike" cap="non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b="0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3" name="Google Shape;103;p4">
            <a:extLst>
              <a:ext uri="{FF2B5EF4-FFF2-40B4-BE49-F238E27FC236}">
                <a16:creationId xmlns:a16="http://schemas.microsoft.com/office/drawing/2014/main" id="{16559BE7-F341-66F6-A70A-759120E4C91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2550" y="4059456"/>
            <a:ext cx="1933184" cy="74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908</Words>
  <Application>Microsoft Office PowerPoint</Application>
  <PresentationFormat>On-screen Show (16:9)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Poppins</vt:lpstr>
      <vt:lpstr>Arial</vt:lpstr>
      <vt:lpstr>Inter Bold</vt:lpstr>
      <vt:lpstr>Rubik</vt:lpstr>
      <vt:lpstr>Rubik Light</vt:lpstr>
      <vt:lpstr>Rubik SemiBold</vt:lpstr>
      <vt:lpstr>Inter</vt:lpstr>
      <vt:lpstr>Rubik Medium</vt:lpstr>
      <vt:lpstr>Simple Light</vt:lpstr>
      <vt:lpstr>PowerPoint Presentation</vt:lpstr>
      <vt:lpstr>PowerPoint Presentation</vt:lpstr>
      <vt:lpstr>PowerPoint Presentation</vt:lpstr>
      <vt:lpstr>PowerPoint Presentation</vt:lpstr>
      <vt:lpstr>Link video presentasi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</dc:creator>
  <cp:lastModifiedBy>afifah nuraini</cp:lastModifiedBy>
  <cp:revision>3</cp:revision>
  <dcterms:modified xsi:type="dcterms:W3CDTF">2026-09-13T05:09:44Z</dcterms:modified>
</cp:coreProperties>
</file>